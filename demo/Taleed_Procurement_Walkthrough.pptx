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7"/>
  </p:normalViewPr>
  <p:slideViewPr>
    <p:cSldViewPr snapToGrid="0" snapToObjects="1">
      <p:cViewPr varScale="1">
        <p:scale>
          <a:sx n="141" d="100"/>
          <a:sy n="141" d="100"/>
        </p:scale>
        <p:origin x="3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4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371600" cy="82296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A93B"/>
                </a:solidFill>
                <a:latin typeface="Arial"/>
              </a:rPr>
              <a:t>TALEED PROCUREMENT SELF-ASSESSMENT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Prototype Walkthrough</a:t>
            </a:r>
          </a:p>
          <a:p>
            <a:r>
              <a:rPr sz="4600" b="1">
                <a:solidFill>
                  <a:srgbClr val="FFFFFF"/>
                </a:solidFill>
                <a:latin typeface="Arial"/>
              </a:rPr>
              <a:t>Across Three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7D2F0"/>
                </a:solidFill>
                <a:latin typeface="Arial"/>
              </a:rPr>
              <a:t>Champion · Analyst · Super Admin — an end-to-end capability diagnostic</a:t>
            </a:r>
          </a:p>
          <a:p>
            <a:r>
              <a:rPr sz="1800" b="0">
                <a:solidFill>
                  <a:srgbClr val="C7D2F0"/>
                </a:solidFill>
                <a:latin typeface="Arial"/>
              </a:rPr>
              <a:t>captured from a live run of the local 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AAAD0"/>
                </a:solidFill>
                <a:latin typeface="Arial"/>
              </a:rPr>
              <a:t>Local-first React + Redux prototype  ·  Synthetic demonstration data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4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A1D5C"/>
                </a:solidFill>
                <a:latin typeface="Arial"/>
              </a:rPr>
              <a:t>What is the Taleed Procurement Self-Assessment?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1280160" cy="73152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rial"/>
              </a:rPr>
              <a:t>A local-first web tool that helps a company measure how mature its procurement function is. The company answers 40 simple Yes/No questions across four capability areas and instantly receives a maturity score, a maturity level and a short list of practical next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2606040" cy="21945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2606040" cy="109728"/>
          </a:xfrm>
          <a:prstGeom prst="rect">
            <a:avLst/>
          </a:prstGeom>
          <a:solidFill>
            <a:srgbClr val="174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A93B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47288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1D5C"/>
                </a:solidFill>
                <a:latin typeface="Arial"/>
              </a:rPr>
              <a:t>Category</a:t>
            </a:r>
          </a:p>
          <a:p>
            <a:r>
              <a:rPr sz="1500" b="1">
                <a:solidFill>
                  <a:srgbClr val="0A1D5C"/>
                </a:solidFill>
                <a:latin typeface="Arial"/>
              </a:rPr>
              <a:t>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Category ownership, strategies and performance reviews.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788920"/>
            <a:ext cx="2606040" cy="21945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0" y="2788920"/>
            <a:ext cx="2606040" cy="109728"/>
          </a:xfrm>
          <a:prstGeom prst="rect">
            <a:avLst/>
          </a:prstGeom>
          <a:solidFill>
            <a:srgbClr val="174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30175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A93B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47288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1D5C"/>
                </a:solidFill>
                <a:latin typeface="Arial"/>
              </a:rPr>
              <a:t>Spend</a:t>
            </a:r>
          </a:p>
          <a:p>
            <a:r>
              <a:rPr sz="1500" b="1">
                <a:solidFill>
                  <a:srgbClr val="0A1D5C"/>
                </a:solidFill>
                <a:latin typeface="Arial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Spend visibility, data quality and decision-ready insight.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788920"/>
            <a:ext cx="2606040" cy="21945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2788920"/>
            <a:ext cx="2606040" cy="109728"/>
          </a:xfrm>
          <a:prstGeom prst="rect">
            <a:avLst/>
          </a:prstGeom>
          <a:solidFill>
            <a:srgbClr val="174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A93B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47288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1D5C"/>
                </a:solidFill>
                <a:latin typeface="Arial"/>
              </a:rPr>
              <a:t>Strategic</a:t>
            </a:r>
          </a:p>
          <a:p>
            <a:r>
              <a:rPr sz="1500" b="1">
                <a:solidFill>
                  <a:srgbClr val="0A1D5C"/>
                </a:solidFill>
                <a:latin typeface="Arial"/>
              </a:rPr>
              <a:t>Sourcing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5196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Sourcing discipline, supplier selection and realized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788920"/>
            <a:ext cx="2606040" cy="219456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2788920"/>
            <a:ext cx="2606040" cy="109728"/>
          </a:xfrm>
          <a:prstGeom prst="rect">
            <a:avLst/>
          </a:prstGeom>
          <a:solidFill>
            <a:srgbClr val="174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30175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A93B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447288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1D5C"/>
                </a:solidFill>
                <a:latin typeface="Arial"/>
              </a:rPr>
              <a:t>Supplier</a:t>
            </a:r>
          </a:p>
          <a:p>
            <a:r>
              <a:rPr sz="1500" b="1">
                <a:solidFill>
                  <a:srgbClr val="0A1D5C"/>
                </a:solidFill>
                <a:latin typeface="Arial"/>
              </a:rPr>
              <a:t>Relationships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25196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Governance, performance and supplier collaboration.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394960"/>
            <a:ext cx="10543032" cy="868680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46811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40 Yes/No questions  ·  4 capability areas  ·  0–100% maturity score  ·  16 tailored recommendations  ·  3 roles: Champion, Analyst, Super Admin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4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A1D5C"/>
                </a:solidFill>
                <a:latin typeface="Arial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71600"/>
            <a:ext cx="1280160" cy="73152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1D5C"/>
                </a:solidFill>
                <a:latin typeface="Arial"/>
              </a:rP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64792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rial"/>
              </a:rPr>
              <a:t>A 40-question, 4-domain procurement maturity diagnostic scored 0-100%.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06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1D5C"/>
                </a:solidFill>
                <a:latin typeface="Arial"/>
              </a:rPr>
              <a:t>Champion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633472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rial"/>
              </a:rPr>
              <a:t>Register - verify - profile - answer 40 - submit - results - report -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39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747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1D5C"/>
                </a:solidFill>
                <a:latin typeface="Arial"/>
              </a:rPr>
              <a:t>Analyst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502151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rial"/>
              </a:rPr>
              <a:t>Read-only portfolio, organizations and like-for-like comparison; no exports.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434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1D5C"/>
                </a:solidFill>
                <a:latin typeface="Arial"/>
              </a:rPr>
              <a:t>Super Admin 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370832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rial"/>
              </a:rPr>
              <a:t>Portfolio with exports, corrections and people &amp; access management.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120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1D5C"/>
                </a:solidFill>
                <a:latin typeface="Arial"/>
              </a:rPr>
              <a:t>How scoring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239512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rial"/>
              </a:rPr>
              <a:t>Yes = 1, No = 0; four maturity bands; 16 tailored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0A93B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56032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The Company Champion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Arial"/>
              </a:rPr>
              <a:t>A company's authorized representative registers, completes the assessment and receives an instant maturity result with tailored recommendations. Everything is saved locally in the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Public landing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The introduction explains the diagnostic: 40 Yes/No questions, four capability areas, immediate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8620" y="2019300"/>
            <a:ext cx="3291712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720" y="2057400"/>
            <a:ext cx="321551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Register a demo account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Name, work email, job title and a dummy password. Passwords are never stored — this is a simulation.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2798" y="2019300"/>
            <a:ext cx="6343356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2-register-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898" y="2057400"/>
            <a:ext cx="6267156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Simulated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A fixed demo code (123456) stands in for an email link. No real email is sent.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5352" y="2019300"/>
            <a:ext cx="7318248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3-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2" y="2057400"/>
            <a:ext cx="724204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Company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Company name, country, size and an authority declaration connect the assessment to the organization.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2641" y="2019300"/>
            <a:ext cx="6283669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4-company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741" y="2057400"/>
            <a:ext cx="6207469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Champion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A clear next step, completion tracking and four capability-area cards. Completion is not a score.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22529" y="2019300"/>
            <a:ext cx="4943894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5-champio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629" y="2057400"/>
            <a:ext cx="4867694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Answering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Each question is Yes / No / unanswered. Answers save instantly to the browser.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8618" y="2019300"/>
            <a:ext cx="2251715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6-answering-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718" y="2057400"/>
            <a:ext cx="217551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Review before submit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All 40 answers are checked for completeness, with links to any missing question.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5352" y="2019300"/>
            <a:ext cx="7318248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7-review-answ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2" y="2057400"/>
            <a:ext cx="724204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Instant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Overall maturity, four domain scores, a band and three relative focus areas.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5352" y="2019300"/>
            <a:ext cx="7318248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8-champion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2" y="2057400"/>
            <a:ext cx="724204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16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Four tailored actions per domain, selected from that domain's own maturity band.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2312" y="2019300"/>
            <a:ext cx="4424327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9-champion-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412" y="2057400"/>
            <a:ext cx="4348127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Printable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An A4 report preview for browser Print / Save as PDF.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44116" y="2019300"/>
            <a:ext cx="2300719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0-champion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216" y="2057400"/>
            <a:ext cx="2224519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2.11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Assessment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Every submitted revision is retained; corrections never overwrite the original.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5352" y="2019300"/>
            <a:ext cx="7318248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1-champio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2" y="2057400"/>
            <a:ext cx="724204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0A93B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56032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The Taleed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Arial"/>
              </a:rPr>
              <a:t>A program analyst reviews participation and maturity across all submitted companies — read-only. Draft answers are never exposed, and exports are disabled unless granted.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Portfolio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Participation, average maturity and score distribution across submitted companies. Export buttons are disabled.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8241" y="2019300"/>
            <a:ext cx="3852470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2-analyst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341" y="2057400"/>
            <a:ext cx="377627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Organizations directory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Company profiles and participation at a glance.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5352" y="2019300"/>
            <a:ext cx="7318248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1-champio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2" y="2057400"/>
            <a:ext cx="724204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Like-for-like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Compare two to four submitted companies side by side.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5352" y="2019300"/>
            <a:ext cx="7318248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4-analyst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2" y="2057400"/>
            <a:ext cx="724204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0A93B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56032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The 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Arial"/>
              </a:rPr>
              <a:t>The Taleed program administrator has all analyst capabilities plus data exports, controlled corrections and people &amp; access management.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Portfolio with exports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Same portfolio as the analyst, but CSV and Excel exports are enabled.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0074" y="2019300"/>
            <a:ext cx="4028803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5-admin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4" y="2057400"/>
            <a:ext cx="3952603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Organization detail &amp; correction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Open a controlled correction while the original submission stays effective.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5352" y="2019300"/>
            <a:ext cx="7318248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7-review-answ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2" y="2057400"/>
            <a:ext cx="724204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864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0A93B"/>
                </a:solidFill>
                <a:latin typeface="Arial"/>
              </a:rPr>
              <a:t>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6576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People &amp;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82296" cy="841248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78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A93B"/>
                </a:solidFill>
                <a:latin typeface="Arial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1060704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rial"/>
              </a:rPr>
              <a:t>Manage staff access and grant analyst export permission. Guardrails protect the last admin.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5352" y="2019300"/>
            <a:ext cx="7318248" cy="4602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7-admin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2" y="2057400"/>
            <a:ext cx="724204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A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0A93B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56032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How scoring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rial"/>
              </a:rPr>
              <a:t>40 equally weighted Yes/No questions across 4 domains (10 each).  Yes = 1, No = 0.</a:t>
            </a:r>
          </a:p>
          <a:p>
            <a:r>
              <a:rPr sz="1700" b="0">
                <a:solidFill>
                  <a:srgbClr val="1E293B"/>
                </a:solidFill>
                <a:latin typeface="Arial"/>
              </a:rPr>
              <a:t>Overall % = total Yes / 40 x 100.  Domain % = domain Yes / 10 x 100.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83280"/>
            <a:ext cx="2606040" cy="1828800"/>
          </a:xfrm>
          <a:prstGeom prst="rect">
            <a:avLst/>
          </a:prstGeom>
          <a:solidFill>
            <a:srgbClr val="C0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0 - 40%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Foundational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383280"/>
            <a:ext cx="2606040" cy="1828800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370332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41 - 65%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5262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Developing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383280"/>
            <a:ext cx="2606040" cy="1828800"/>
          </a:xfrm>
          <a:prstGeom prst="rect">
            <a:avLst/>
          </a:prstGeom>
          <a:solidFill>
            <a:srgbClr val="174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70332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66 - 80%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262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Advanced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3383280"/>
            <a:ext cx="2606040" cy="1828800"/>
          </a:xfrm>
          <a:prstGeom prst="rect">
            <a:avLst/>
          </a:prstGeom>
          <a:solidFill>
            <a:srgbClr val="1F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370332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81 - 100%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5262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Best-in-Class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rial"/>
              </a:rPr>
              <a:t>Results are self-reported and for demonstration only — not a certification or an external market benchmark.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4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371600" cy="82296"/>
          </a:xfrm>
          <a:prstGeom prst="rect">
            <a:avLst/>
          </a:prstGeom>
          <a:solidFill>
            <a:srgbClr val="F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A93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A clearer view of</a:t>
            </a:r>
          </a:p>
          <a:p>
            <a:r>
              <a:rPr sz="4600" b="1">
                <a:solidFill>
                  <a:srgbClr val="FFFFFF"/>
                </a:solidFill>
                <a:latin typeface="Arial"/>
              </a:rPr>
              <a:t>procurement capability.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7D2F0"/>
                </a:solidFill>
                <a:latin typeface="Arial"/>
              </a:rPr>
              <a:t>Live prototype: http://127.0.0.1:5173  ·  Demo accounts use password TaleedDemo!2026</a:t>
            </a:r>
          </a:p>
          <a:p>
            <a:r>
              <a:rPr sz="1800" b="0">
                <a:solidFill>
                  <a:srgbClr val="C7D2F0"/>
                </a:solidFill>
                <a:latin typeface="Arial"/>
              </a:rPr>
              <a:t>Champion: register your own  ·  Analyst: analyst@example.com  ·  Super Admin: admin@example.com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AAAD0"/>
                </a:solidFill>
                <a:latin typeface="Arial"/>
              </a:rPr>
              <a:t>Local-first React + Redux prototype  ·  Synthetic demonstration data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840</Words>
  <Application>Microsoft Macintosh PowerPoint</Application>
  <PresentationFormat>Widescreen</PresentationFormat>
  <Paragraphs>137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Mohamad Oueidat</cp:lastModifiedBy>
  <cp:revision>1</cp:revision>
  <dcterms:created xsi:type="dcterms:W3CDTF">2013-01-27T09:14:16Z</dcterms:created>
  <dcterms:modified xsi:type="dcterms:W3CDTF">2026-09-17T09:38:06Z</dcterms:modified>
  <cp:category/>
</cp:coreProperties>
</file>